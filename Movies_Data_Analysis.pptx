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c894507e-c5b1-1243-fe3b-06f6acc68d88}">
          <p14:sldIdLst>
            <p14:sldId id="256"/>
          </p14:sldIdLst>
        </p14:section>
        <p14:section name="Data" id="{2800c295-ccda-1952-2dc4-dd41956d2570}">
          <p14:sldIdLst>
            <p14:sldId id="257"/>
          </p14:sldIdLst>
        </p14:section>
        <p14:section name="Cleaning" id="{ccdc5a44-a273-e84a-5e71-26a0fbfcf680}">
          <p14:sldIdLst>
            <p14:sldId id="258"/>
          </p14:sldIdLst>
        </p14:section>
        <p14:section name="Analysis" id="{e31a8d4a-5f43-1b89-5960-e97f61887fe1}">
          <p14:sldIdLst>
            <p14:sldId id="259"/>
            <p14:sldId id="260"/>
            <p14:sldId id="261"/>
            <p14:sldId id="262"/>
          </p14:sldIdLst>
        </p14:section>
        <p14:section name="Wrap-up" id="{4b8adaeb-1b02-f583-d75c-25a49974a131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4D6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A4D63"/>
                </a:solidFill>
                <a:latin typeface="+mn-lt"/>
              </a:rPr>
              <a:t>Top 10 genres (number of rows)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4D6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Drama</c:v>
                  </c:pt>
                  <c:pt idx="1">
                    <c:v>Comedy</c:v>
                  </c:pt>
                  <c:pt idx="2">
                    <c:v>Action</c:v>
                  </c:pt>
                  <c:pt idx="3">
                    <c:v>Thriller</c:v>
                  </c:pt>
                  <c:pt idx="4">
                    <c:v>Adventure</c:v>
                  </c:pt>
                  <c:pt idx="5">
                    <c:v>Romance</c:v>
                  </c:pt>
                  <c:pt idx="6">
                    <c:v>Horror</c:v>
                  </c:pt>
                  <c:pt idx="7">
                    <c:v>Animation</c:v>
                  </c:pt>
                  <c:pt idx="8">
                    <c:v>Family</c:v>
                  </c:pt>
                  <c:pt idx="9">
                    <c:v>Fantasy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3744</c:v>
                </c:pt>
                <c:pt idx="1">
                  <c:v>3031</c:v>
                </c:pt>
                <c:pt idx="2">
                  <c:v>2686</c:v>
                </c:pt>
                <c:pt idx="3">
                  <c:v>2488</c:v>
                </c:pt>
                <c:pt idx="4">
                  <c:v>1853</c:v>
                </c:pt>
                <c:pt idx="5">
                  <c:v>1476</c:v>
                </c:pt>
                <c:pt idx="6">
                  <c:v>1470</c:v>
                </c:pt>
                <c:pt idx="7">
                  <c:v>1439</c:v>
                </c:pt>
                <c:pt idx="8">
                  <c:v>1414</c:v>
                </c:pt>
                <c:pt idx="9">
                  <c:v>1308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A4D6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D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4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D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4D6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A4D63"/>
                </a:solidFill>
                <a:latin typeface="+mn-lt"/>
              </a:rPr>
              <a:t>Vote_Average groups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Votes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4B942"/>
              </a:solidFill>
              <a:effectLst/>
            </c:spPr>
          </c:dPt>
          <c:dPt>
            <c:idx val="1"/>
            <c:bubble3D val="0"/>
            <c:spPr>
              <a:solidFill>
                <a:srgbClr val="E63946"/>
              </a:solidFill>
              <a:effectLst/>
            </c:spPr>
          </c:dPt>
          <c:dPt>
            <c:idx val="2"/>
            <c:bubble3D val="0"/>
            <c:spPr>
              <a:solidFill>
                <a:srgbClr val="8D99AE"/>
              </a:solidFill>
              <a:effectLst/>
            </c:spPr>
          </c:dPt>
          <c:dPt>
            <c:idx val="3"/>
            <c:bubble3D val="0"/>
            <c:spPr>
              <a:solidFill>
                <a:srgbClr val="2B2D4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Average</c:v>
                </c:pt>
                <c:pt idx="1">
                  <c:v>Popular</c:v>
                </c:pt>
                <c:pt idx="2">
                  <c:v>Below avg</c:v>
                </c:pt>
                <c:pt idx="3">
                  <c:v>Not popular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6613</c:v>
                </c:pt>
                <c:pt idx="1">
                  <c:v>6520</c:v>
                </c:pt>
                <c:pt idx="2">
                  <c:v>6348</c:v>
                </c:pt>
                <c:pt idx="3">
                  <c:v>6312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4D6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4D6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A4D63"/>
                </a:solidFill>
                <a:latin typeface="+mn-lt"/>
              </a:rPr>
              <a:t>Genre share of the "popular" group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4D6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Drama</c:v>
                  </c:pt>
                  <c:pt idx="1">
                    <c:v>Comedy</c:v>
                  </c:pt>
                  <c:pt idx="2">
                    <c:v>Animation</c:v>
                  </c:pt>
                  <c:pt idx="3">
                    <c:v>Action</c:v>
                  </c:pt>
                  <c:pt idx="4">
                    <c:v>Adventure</c:v>
                  </c:pt>
                  <c:pt idx="5">
                    <c:v>Romance</c:v>
                  </c:pt>
                  <c:pt idx="6">
                    <c:v>Thriller</c:v>
                  </c:pt>
                  <c:pt idx="7">
                    <c:v>Fantasy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20.1</c:v>
                </c:pt>
                <c:pt idx="1">
                  <c:v>9.2</c:v>
                </c:pt>
                <c:pt idx="2">
                  <c:v>8.3</c:v>
                </c:pt>
                <c:pt idx="3">
                  <c:v>8.1</c:v>
                </c:pt>
                <c:pt idx="4">
                  <c:v>6.9</c:v>
                </c:pt>
                <c:pt idx="5">
                  <c:v>6.3</c:v>
                </c:pt>
                <c:pt idx="6">
                  <c:v>6</c:v>
                </c:pt>
                <c:pt idx="7">
                  <c:v>5.8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4A4D6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D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4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D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4D6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A4D63"/>
                </a:solidFill>
                <a:latin typeface="+mn-lt"/>
              </a:rPr>
              <a:t>Movies released per year, 2005-2022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Movies</c:v>
                </c:pt>
              </c:strCache>
            </c:strRef>
          </c:tx>
          <c:spPr>
            <a:solidFill>
              <a:srgbClr val="5C6B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Sheet1!$A$2:$A$19</c:f>
              <c:multiLvlStrCache>
                <c:ptCount val="18"/>
                <c:lvl>
                  <c:pt idx="0">
                    <c:v>2005</c:v>
                  </c:pt>
                  <c:pt idx="1">
                    <c:v>2006</c:v>
                  </c:pt>
                  <c:pt idx="2">
                    <c:v>2007</c:v>
                  </c:pt>
                  <c:pt idx="3">
                    <c:v>2008</c:v>
                  </c:pt>
                  <c:pt idx="4">
                    <c:v>2009</c:v>
                  </c:pt>
                  <c:pt idx="5">
                    <c:v>2010</c:v>
                  </c:pt>
                  <c:pt idx="6">
                    <c:v>2011</c:v>
                  </c:pt>
                  <c:pt idx="7">
                    <c:v>2012</c:v>
                  </c:pt>
                  <c:pt idx="8">
                    <c:v>2013</c:v>
                  </c:pt>
                  <c:pt idx="9">
                    <c:v>2014</c:v>
                  </c:pt>
                  <c:pt idx="10">
                    <c:v>2015</c:v>
                  </c:pt>
                  <c:pt idx="11">
                    <c:v>2016</c:v>
                  </c:pt>
                  <c:pt idx="12">
                    <c:v>2017</c:v>
                  </c:pt>
                  <c:pt idx="13">
                    <c:v>2018</c:v>
                  </c:pt>
                  <c:pt idx="14">
                    <c:v>2019</c:v>
                  </c:pt>
                  <c:pt idx="15">
                    <c:v>2020</c:v>
                  </c:pt>
                  <c:pt idx="16">
                    <c:v>2021</c:v>
                  </c:pt>
                  <c:pt idx="17">
                    <c:v>2022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216</c:v>
                </c:pt>
                <c:pt idx="1">
                  <c:v>237</c:v>
                </c:pt>
                <c:pt idx="2">
                  <c:v>245</c:v>
                </c:pt>
                <c:pt idx="3">
                  <c:v>250</c:v>
                </c:pt>
                <c:pt idx="4">
                  <c:v>291</c:v>
                </c:pt>
                <c:pt idx="5">
                  <c:v>279</c:v>
                </c:pt>
                <c:pt idx="6">
                  <c:v>316</c:v>
                </c:pt>
                <c:pt idx="7">
                  <c:v>285</c:v>
                </c:pt>
                <c:pt idx="8">
                  <c:v>348</c:v>
                </c:pt>
                <c:pt idx="9">
                  <c:v>371</c:v>
                </c:pt>
                <c:pt idx="10">
                  <c:v>390</c:v>
                </c:pt>
                <c:pt idx="11">
                  <c:v>469</c:v>
                </c:pt>
                <c:pt idx="12">
                  <c:v>509</c:v>
                </c:pt>
                <c:pt idx="13">
                  <c:v>529</c:v>
                </c:pt>
                <c:pt idx="14">
                  <c:v>499</c:v>
                </c:pt>
                <c:pt idx="15">
                  <c:v>451</c:v>
                </c:pt>
                <c:pt idx="16">
                  <c:v>713</c:v>
                </c:pt>
                <c:pt idx="17">
                  <c:v>208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900" b="0" i="0" u="none" strike="noStrike">
                <a:solidFill>
                  <a:srgbClr val="4A4D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D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MOVIES DATA ANALYSIS</a:t>
            </a:r>
            <a:endParaRPr lang="en-US" sz="4400" dirty="0"/>
          </a:p>
        </p:txBody>
      </p:sp>
      <p:sp>
        <p:nvSpPr>
          <p:cNvPr id="3" name="Subtitle"/>
          <p:cNvSpPr txBox="1"/>
          <p:nvPr/>
        </p:nvSpPr>
        <p:spPr>
          <a:xfrm>
            <a:off x="640080" y="21945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CFE0"/>
                </a:solidFill>
              </a:rPr>
              <a:t>What 9,827 movies tell us about genres, votes, popularity and release years</a:t>
            </a:r>
            <a:endParaRPr lang="en-US" sz="2000" dirty="0"/>
          </a:p>
        </p:txBody>
      </p:sp>
      <p:sp>
        <p:nvSpPr>
          <p:cNvPr id="4" name="Reel"/>
          <p:cNvSpPr/>
          <p:nvPr/>
        </p:nvSpPr>
        <p:spPr>
          <a:xfrm>
            <a:off x="7315200" y="548640"/>
            <a:ext cx="1280160" cy="12801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Reel hub"/>
          <p:cNvSpPr/>
          <p:nvPr/>
        </p:nvSpPr>
        <p:spPr>
          <a:xfrm>
            <a:off x="7726680" y="960120"/>
            <a:ext cx="457200" cy="457200"/>
          </a:xfrm>
          <a:prstGeom prst="ellipse">
            <a:avLst/>
          </a:prstGeom>
          <a:solidFill>
            <a:srgbClr val="1B1B2F"/>
          </a:solidFill>
          <a:ln w="12700">
            <a:solidFill>
              <a:srgbClr val="1B1B2F"/>
            </a:solidFill>
            <a:prstDash val="solid"/>
          </a:ln>
        </p:spPr>
      </p:sp>
      <p:sp>
        <p:nvSpPr>
          <p:cNvPr id="6" name="Tools"/>
          <p:cNvSpPr txBox="1"/>
          <p:nvPr/>
        </p:nvSpPr>
        <p:spPr>
          <a:xfrm>
            <a:off x="640080" y="4114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B942"/>
                </a:solidFill>
              </a:rPr>
              <a:t>Python  |  pandas  |  matplotlib  |  seaborn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dataset at a glance</a:t>
            </a:r>
            <a:endParaRPr lang="en-US" sz="3200" dirty="0"/>
          </a:p>
        </p:txBody>
      </p:sp>
      <p:sp>
        <p:nvSpPr>
          <p:cNvPr id="3" name="Stat card 1"/>
          <p:cNvSpPr/>
          <p:nvPr/>
        </p:nvSpPr>
        <p:spPr>
          <a:xfrm>
            <a:off x="548640" y="132588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value 1"/>
          <p:cNvSpPr txBox="1"/>
          <p:nvPr/>
        </p:nvSpPr>
        <p:spPr>
          <a:xfrm>
            <a:off x="548640" y="14630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9,827</a:t>
            </a:r>
            <a:endParaRPr lang="en-US" sz="4000" dirty="0"/>
          </a:p>
        </p:txBody>
      </p:sp>
      <p:sp>
        <p:nvSpPr>
          <p:cNvPr id="5" name="Stat label 1"/>
          <p:cNvSpPr txBox="1"/>
          <p:nvPr/>
        </p:nvSpPr>
        <p:spPr>
          <a:xfrm>
            <a:off x="548640" y="22860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F85"/>
                </a:solidFill>
              </a:rPr>
              <a:t>movies (rows)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2606040" y="132588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 value 2"/>
          <p:cNvSpPr txBox="1"/>
          <p:nvPr/>
        </p:nvSpPr>
        <p:spPr>
          <a:xfrm>
            <a:off x="2606040" y="14630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8" name="Stat label 2"/>
          <p:cNvSpPr txBox="1"/>
          <p:nvPr/>
        </p:nvSpPr>
        <p:spPr>
          <a:xfrm>
            <a:off x="2606040" y="22860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F85"/>
                </a:solidFill>
              </a:rPr>
              <a:t>raw columns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4663440" y="132588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value 3"/>
          <p:cNvSpPr txBox="1"/>
          <p:nvPr/>
        </p:nvSpPr>
        <p:spPr>
          <a:xfrm>
            <a:off x="4663440" y="14630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1" name="Stat label 3"/>
          <p:cNvSpPr txBox="1"/>
          <p:nvPr/>
        </p:nvSpPr>
        <p:spPr>
          <a:xfrm>
            <a:off x="4663440" y="22860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F85"/>
                </a:solidFill>
              </a:rPr>
              <a:t>missing values</a:t>
            </a:r>
            <a:endParaRPr lang="en-US" sz="1400" dirty="0"/>
          </a:p>
        </p:txBody>
      </p:sp>
      <p:sp>
        <p:nvSpPr>
          <p:cNvPr id="12" name="Stat card 4"/>
          <p:cNvSpPr/>
          <p:nvPr/>
        </p:nvSpPr>
        <p:spPr>
          <a:xfrm>
            <a:off x="6720840" y="132588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 value 4"/>
          <p:cNvSpPr txBox="1"/>
          <p:nvPr/>
        </p:nvSpPr>
        <p:spPr>
          <a:xfrm>
            <a:off x="6720840" y="14630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4" name="Stat label 4"/>
          <p:cNvSpPr txBox="1"/>
          <p:nvPr/>
        </p:nvSpPr>
        <p:spPr>
          <a:xfrm>
            <a:off x="6720840" y="22860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F85"/>
                </a:solidFill>
              </a:rPr>
              <a:t>duplicate rows</a:t>
            </a:r>
            <a:endParaRPr lang="en-US" sz="1400" dirty="0"/>
          </a:p>
        </p:txBody>
      </p:sp>
      <p:sp>
        <p:nvSpPr>
          <p:cNvPr id="15" name="Notes"/>
          <p:cNvSpPr txBox="1"/>
          <p:nvPr/>
        </p:nvSpPr>
        <p:spPr>
          <a:xfrm>
            <a:off x="548640" y="32004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Columns: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6B6F85"/>
                </a:solidFill>
              </a:rPr>
              <a:t>Release_Date, Title, Overview, Popularity, Vote_Count, Vote_Average, Original_Language, Genre, Poster_Url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Quick findings: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6B6F85"/>
                </a:solidFill>
              </a:rPr>
              <a:t>Popularity has big outliers (median 21 vs max 5,084). Genres are comma-separated text.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 cleaning pipeline</a:t>
            </a:r>
            <a:endParaRPr lang="en-US" sz="3200" dirty="0"/>
          </a:p>
        </p:txBody>
      </p:sp>
      <p:sp>
        <p:nvSpPr>
          <p:cNvPr id="3" name="Step badge 1"/>
          <p:cNvSpPr/>
          <p:nvPr/>
        </p:nvSpPr>
        <p:spPr>
          <a:xfrm>
            <a:off x="594360" y="14173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ep num 1"/>
          <p:cNvSpPr txBox="1"/>
          <p:nvPr/>
        </p:nvSpPr>
        <p:spPr>
          <a:xfrm>
            <a:off x="59436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Step title 1"/>
          <p:cNvSpPr txBox="1"/>
          <p:nvPr/>
        </p:nvSpPr>
        <p:spPr>
          <a:xfrm>
            <a:off x="548640" y="22402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Release_Date</a:t>
            </a:r>
            <a:endParaRPr lang="en-US" sz="1800" dirty="0"/>
          </a:p>
        </p:txBody>
      </p:sp>
      <p:sp>
        <p:nvSpPr>
          <p:cNvPr id="6" name="Step text 1"/>
          <p:cNvSpPr txBox="1"/>
          <p:nvPr/>
        </p:nvSpPr>
        <p:spPr>
          <a:xfrm>
            <a:off x="548640" y="2697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F85"/>
                </a:solidFill>
              </a:rPr>
              <a:t>Cast to datetime, keep year only</a:t>
            </a:r>
            <a:endParaRPr lang="en-US" sz="1400" dirty="0"/>
          </a:p>
        </p:txBody>
      </p:sp>
      <p:sp>
        <p:nvSpPr>
          <p:cNvPr id="7" name="Step badge 2"/>
          <p:cNvSpPr/>
          <p:nvPr/>
        </p:nvSpPr>
        <p:spPr>
          <a:xfrm>
            <a:off x="2651760" y="14173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tep num 2"/>
          <p:cNvSpPr txBox="1"/>
          <p:nvPr/>
        </p:nvSpPr>
        <p:spPr>
          <a:xfrm>
            <a:off x="265176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Step title 2"/>
          <p:cNvSpPr txBox="1"/>
          <p:nvPr/>
        </p:nvSpPr>
        <p:spPr>
          <a:xfrm>
            <a:off x="2606040" y="22402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Drop columns</a:t>
            </a:r>
            <a:endParaRPr lang="en-US" sz="1800" dirty="0"/>
          </a:p>
        </p:txBody>
      </p:sp>
      <p:sp>
        <p:nvSpPr>
          <p:cNvPr id="10" name="Step text 2"/>
          <p:cNvSpPr txBox="1"/>
          <p:nvPr/>
        </p:nvSpPr>
        <p:spPr>
          <a:xfrm>
            <a:off x="2606040" y="2697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F85"/>
                </a:solidFill>
              </a:rPr>
              <a:t>Overview, Original_Language, Poster_Url</a:t>
            </a:r>
            <a:endParaRPr lang="en-US" sz="1400" dirty="0"/>
          </a:p>
        </p:txBody>
      </p:sp>
      <p:sp>
        <p:nvSpPr>
          <p:cNvPr id="11" name="Step badge 3"/>
          <p:cNvSpPr/>
          <p:nvPr/>
        </p:nvSpPr>
        <p:spPr>
          <a:xfrm>
            <a:off x="4709160" y="14173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tep num 3"/>
          <p:cNvSpPr txBox="1"/>
          <p:nvPr/>
        </p:nvSpPr>
        <p:spPr>
          <a:xfrm>
            <a:off x="470916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Step title 3"/>
          <p:cNvSpPr txBox="1"/>
          <p:nvPr/>
        </p:nvSpPr>
        <p:spPr>
          <a:xfrm>
            <a:off x="4663440" y="22402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Vote_Average</a:t>
            </a:r>
            <a:endParaRPr lang="en-US" sz="1800" dirty="0"/>
          </a:p>
        </p:txBody>
      </p:sp>
      <p:sp>
        <p:nvSpPr>
          <p:cNvPr id="14" name="Step text 3"/>
          <p:cNvSpPr txBox="1"/>
          <p:nvPr/>
        </p:nvSpPr>
        <p:spPr>
          <a:xfrm>
            <a:off x="4663440" y="2697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F85"/>
                </a:solidFill>
              </a:rPr>
              <a:t>Cut into 4 quartile groups</a:t>
            </a:r>
            <a:endParaRPr lang="en-US" sz="1400" dirty="0"/>
          </a:p>
        </p:txBody>
      </p:sp>
      <p:sp>
        <p:nvSpPr>
          <p:cNvPr id="15" name="Step badge 4"/>
          <p:cNvSpPr/>
          <p:nvPr/>
        </p:nvSpPr>
        <p:spPr>
          <a:xfrm>
            <a:off x="6766560" y="14173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tep num 4"/>
          <p:cNvSpPr txBox="1"/>
          <p:nvPr/>
        </p:nvSpPr>
        <p:spPr>
          <a:xfrm>
            <a:off x="676656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Step title 4"/>
          <p:cNvSpPr txBox="1"/>
          <p:nvPr/>
        </p:nvSpPr>
        <p:spPr>
          <a:xfrm>
            <a:off x="6720840" y="22402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Genre</a:t>
            </a:r>
            <a:endParaRPr lang="en-US" sz="1800" dirty="0"/>
          </a:p>
        </p:txBody>
      </p:sp>
      <p:sp>
        <p:nvSpPr>
          <p:cNvPr id="18" name="Step text 4"/>
          <p:cNvSpPr txBox="1"/>
          <p:nvPr/>
        </p:nvSpPr>
        <p:spPr>
          <a:xfrm>
            <a:off x="6720840" y="2697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F85"/>
                </a:solidFill>
              </a:rPr>
              <a:t>Split on ", " and explode to 1 genre / row</a:t>
            </a:r>
            <a:endParaRPr lang="en-US" sz="1400" dirty="0"/>
          </a:p>
        </p:txBody>
      </p:sp>
      <p:sp>
        <p:nvSpPr>
          <p:cNvPr id="19" name="Result card"/>
          <p:cNvSpPr/>
          <p:nvPr/>
        </p:nvSpPr>
        <p:spPr>
          <a:xfrm>
            <a:off x="548640" y="3703320"/>
            <a:ext cx="804672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Result text"/>
          <p:cNvSpPr txBox="1"/>
          <p:nvPr/>
        </p:nvSpPr>
        <p:spPr>
          <a:xfrm>
            <a:off x="777240" y="370332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Result: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9,827 movies become 25,793 rows (one per movie-genre pair), 6 clean columns, 19 unique genres.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Q1. Drama is the most frequent genre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548640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ig stat"/>
          <p:cNvSpPr txBox="1"/>
          <p:nvPr/>
        </p:nvSpPr>
        <p:spPr>
          <a:xfrm>
            <a:off x="6309360" y="1371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14.5%</a:t>
            </a:r>
            <a:endParaRPr lang="en-US" sz="6000" dirty="0"/>
          </a:p>
        </p:txBody>
      </p:sp>
      <p:sp>
        <p:nvSpPr>
          <p:cNvPr id="5" name="Q1 text"/>
          <p:cNvSpPr txBox="1"/>
          <p:nvPr/>
        </p:nvSpPr>
        <p:spPr>
          <a:xfrm>
            <a:off x="6309360" y="23317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of all genre rows are Drama (3,744 of 25,793), ahead of Comedy, Action and Thriller.</a:t>
            </a:r>
            <a:endParaRPr lang="en-US" sz="1500" dirty="0"/>
          </a:p>
        </p:txBody>
      </p:sp>
      <p:sp>
        <p:nvSpPr>
          <p:cNvPr id="6" name="Q1 note"/>
          <p:cNvSpPr txBox="1"/>
          <p:nvPr/>
        </p:nvSpPr>
        <p:spPr>
          <a:xfrm>
            <a:off x="6309360" y="3749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F85"/>
                </a:solidFill>
              </a:rPr>
              <a:t>Western is the rarest genre (137).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Q2. Which genres get the highest votes?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88720"/>
          <a:ext cx="39319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480560" y="1188720"/>
          <a:ext cx="42976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Q2 takeaway"/>
          <p:cNvSpPr txBox="1"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5"/>
                </a:solidFill>
              </a:rPr>
              <a:t>Popular-rated movies are 25.3% of the data (6,520 rows). Drama makes up 20.1% of them.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&amp; Q4. Popularity extremes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280160"/>
            <a:ext cx="3931920" cy="32004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ag 1"/>
          <p:cNvSpPr txBox="1"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</a:rPr>
              <a:t>HIGHEST</a:t>
            </a:r>
            <a:endParaRPr lang="en-US" sz="1300" dirty="0"/>
          </a:p>
        </p:txBody>
      </p:sp>
      <p:sp>
        <p:nvSpPr>
          <p:cNvPr id="5" name="Value 1"/>
          <p:cNvSpPr txBox="1"/>
          <p:nvPr/>
        </p:nvSpPr>
        <p:spPr>
          <a:xfrm>
            <a:off x="822960" y="1828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5,083.95</a:t>
            </a:r>
            <a:endParaRPr lang="en-US" sz="4600" dirty="0"/>
          </a:p>
        </p:txBody>
      </p:sp>
      <p:sp>
        <p:nvSpPr>
          <p:cNvPr id="6" name="Name 1"/>
          <p:cNvSpPr txBox="1"/>
          <p:nvPr/>
        </p:nvSpPr>
        <p:spPr>
          <a:xfrm>
            <a:off x="822960" y="2697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Spider-Man: No Way Home</a:t>
            </a:r>
            <a:endParaRPr lang="en-US" sz="1600" dirty="0"/>
          </a:p>
        </p:txBody>
      </p:sp>
      <p:sp>
        <p:nvSpPr>
          <p:cNvPr id="7" name="Meta 1"/>
          <p:cNvSpPr txBox="1"/>
          <p:nvPr/>
        </p:nvSpPr>
        <p:spPr>
          <a:xfrm>
            <a:off x="822960" y="3383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AD0"/>
                </a:solidFill>
              </a:rPr>
              <a:t>2021  |  8,940 votes</a:t>
            </a:r>
            <a:endParaRPr lang="en-US" sz="1200" dirty="0"/>
          </a:p>
        </p:txBody>
      </p:sp>
      <p:sp>
        <p:nvSpPr>
          <p:cNvPr id="8" name="Genres 1"/>
          <p:cNvSpPr txBox="1"/>
          <p:nvPr/>
        </p:nvSpPr>
        <p:spPr>
          <a:xfrm>
            <a:off x="822960" y="3703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E63946"/>
                </a:solidFill>
              </a:rPr>
              <a:t>Action, Adventure, Science Fiction</a:t>
            </a:r>
            <a:endParaRPr lang="en-US" sz="1300" dirty="0"/>
          </a:p>
        </p:txBody>
      </p:sp>
      <p:sp>
        <p:nvSpPr>
          <p:cNvPr id="9" name="Card 2"/>
          <p:cNvSpPr/>
          <p:nvPr/>
        </p:nvSpPr>
        <p:spPr>
          <a:xfrm>
            <a:off x="4663440" y="1280160"/>
            <a:ext cx="3931920" cy="32004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ag 2"/>
          <p:cNvSpPr txBox="1"/>
          <p:nvPr/>
        </p:nvSpPr>
        <p:spPr>
          <a:xfrm>
            <a:off x="49377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B942"/>
                </a:solidFill>
              </a:rPr>
              <a:t>LOWEST</a:t>
            </a:r>
            <a:endParaRPr lang="en-US" sz="1300" dirty="0"/>
          </a:p>
        </p:txBody>
      </p:sp>
      <p:sp>
        <p:nvSpPr>
          <p:cNvPr id="11" name="Value 2"/>
          <p:cNvSpPr txBox="1"/>
          <p:nvPr/>
        </p:nvSpPr>
        <p:spPr>
          <a:xfrm>
            <a:off x="4937760" y="1828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13.35</a:t>
            </a:r>
            <a:endParaRPr lang="en-US" sz="4600" dirty="0"/>
          </a:p>
        </p:txBody>
      </p:sp>
      <p:sp>
        <p:nvSpPr>
          <p:cNvPr id="12" name="Name 2"/>
          <p:cNvSpPr txBox="1"/>
          <p:nvPr/>
        </p:nvSpPr>
        <p:spPr>
          <a:xfrm>
            <a:off x="4937760" y="2697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United States vs. Billie Holiday  &amp;  Threads</a:t>
            </a:r>
            <a:endParaRPr lang="en-US" sz="1600" dirty="0"/>
          </a:p>
        </p:txBody>
      </p:sp>
      <p:sp>
        <p:nvSpPr>
          <p:cNvPr id="13" name="Meta 2"/>
          <p:cNvSpPr txBox="1"/>
          <p:nvPr/>
        </p:nvSpPr>
        <p:spPr>
          <a:xfrm>
            <a:off x="4937760" y="3383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AD0"/>
                </a:solidFill>
              </a:rPr>
              <a:t>2021 and 1984  |  tied</a:t>
            </a:r>
            <a:endParaRPr lang="en-US" sz="1200" dirty="0"/>
          </a:p>
        </p:txBody>
      </p:sp>
      <p:sp>
        <p:nvSpPr>
          <p:cNvPr id="14" name="Genres 2"/>
          <p:cNvSpPr txBox="1"/>
          <p:nvPr/>
        </p:nvSpPr>
        <p:spPr>
          <a:xfrm>
            <a:off x="4937760" y="3703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4B942"/>
                </a:solidFill>
              </a:rPr>
              <a:t>Music, Drama, History  /  War, Drama, Science Fiction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Q5. 2021 has the most movies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57607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ig stat"/>
          <p:cNvSpPr txBox="1"/>
          <p:nvPr/>
        </p:nvSpPr>
        <p:spPr>
          <a:xfrm>
            <a:off x="6492240" y="1371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713</a:t>
            </a:r>
            <a:endParaRPr lang="en-US" sz="6000" dirty="0"/>
          </a:p>
        </p:txBody>
      </p:sp>
      <p:sp>
        <p:nvSpPr>
          <p:cNvPr id="5" name="Q5 text"/>
          <p:cNvSpPr txBox="1"/>
          <p:nvPr/>
        </p:nvSpPr>
        <p:spPr>
          <a:xfrm>
            <a:off x="6492240" y="2331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unique movies in 2021, the peak year in the dataset.</a:t>
            </a:r>
            <a:endParaRPr lang="en-US" sz="1500" dirty="0"/>
          </a:p>
        </p:txBody>
      </p:sp>
      <p:sp>
        <p:nvSpPr>
          <p:cNvPr id="6" name="Q5 note"/>
          <p:cNvSpPr txBox="1"/>
          <p:nvPr/>
        </p:nvSpPr>
        <p:spPr>
          <a:xfrm>
            <a:off x="6492240" y="32918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F85"/>
                </a:solidFill>
              </a:rPr>
              <a:t>Releases grow steadily over time. The drop for 2022-2024 reflects the dataset ending partway through 2022.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Badge Q1"/>
          <p:cNvSpPr/>
          <p:nvPr/>
        </p:nvSpPr>
        <p:spPr>
          <a:xfrm>
            <a:off x="548640" y="1188720"/>
            <a:ext cx="731520" cy="457200"/>
          </a:xfrm>
          <a:prstGeom prst="roundRect">
            <a:avLst>
              <a:gd name="adj" fmla="val 20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Badge text Q1"/>
          <p:cNvSpPr txBox="1"/>
          <p:nvPr/>
        </p:nvSpPr>
        <p:spPr>
          <a:xfrm>
            <a:off x="548640" y="1188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Q1</a:t>
            </a:r>
            <a:endParaRPr lang="en-US" sz="1500" dirty="0"/>
          </a:p>
        </p:txBody>
      </p:sp>
      <p:sp>
        <p:nvSpPr>
          <p:cNvPr id="5" name="Takeaway Q1"/>
          <p:cNvSpPr txBox="1"/>
          <p:nvPr/>
        </p:nvSpPr>
        <p:spPr>
          <a:xfrm>
            <a:off x="1508760" y="11887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Drama is the most frequent genre (14.5% of rows).</a:t>
            </a:r>
            <a:endParaRPr lang="en-US" sz="1700" dirty="0"/>
          </a:p>
        </p:txBody>
      </p:sp>
      <p:sp>
        <p:nvSpPr>
          <p:cNvPr id="6" name="Badge Q2"/>
          <p:cNvSpPr/>
          <p:nvPr/>
        </p:nvSpPr>
        <p:spPr>
          <a:xfrm>
            <a:off x="548640" y="1828800"/>
            <a:ext cx="731520" cy="457200"/>
          </a:xfrm>
          <a:prstGeom prst="roundRect">
            <a:avLst>
              <a:gd name="adj" fmla="val 20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Badge text Q2"/>
          <p:cNvSpPr txBox="1"/>
          <p:nvPr/>
        </p:nvSpPr>
        <p:spPr>
          <a:xfrm>
            <a:off x="548640" y="1828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Q2</a:t>
            </a:r>
            <a:endParaRPr lang="en-US" sz="1500" dirty="0"/>
          </a:p>
        </p:txBody>
      </p:sp>
      <p:sp>
        <p:nvSpPr>
          <p:cNvPr id="8" name="Takeaway Q2"/>
          <p:cNvSpPr txBox="1"/>
          <p:nvPr/>
        </p:nvSpPr>
        <p:spPr>
          <a:xfrm>
            <a:off x="1508760" y="182880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Drama also leads the popular-vote group with 20.1%.</a:t>
            </a:r>
            <a:endParaRPr lang="en-US" sz="1700" dirty="0"/>
          </a:p>
        </p:txBody>
      </p:sp>
      <p:sp>
        <p:nvSpPr>
          <p:cNvPr id="9" name="Badge Q3"/>
          <p:cNvSpPr/>
          <p:nvPr/>
        </p:nvSpPr>
        <p:spPr>
          <a:xfrm>
            <a:off x="548640" y="2468880"/>
            <a:ext cx="731520" cy="457200"/>
          </a:xfrm>
          <a:prstGeom prst="roundRect">
            <a:avLst>
              <a:gd name="adj" fmla="val 20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Badge text Q3"/>
          <p:cNvSpPr txBox="1"/>
          <p:nvPr/>
        </p:nvSpPr>
        <p:spPr>
          <a:xfrm>
            <a:off x="548640" y="2468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Q3</a:t>
            </a:r>
            <a:endParaRPr lang="en-US" sz="1500" dirty="0"/>
          </a:p>
        </p:txBody>
      </p:sp>
      <p:sp>
        <p:nvSpPr>
          <p:cNvPr id="11" name="Takeaway Q3"/>
          <p:cNvSpPr txBox="1"/>
          <p:nvPr/>
        </p:nvSpPr>
        <p:spPr>
          <a:xfrm>
            <a:off x="1508760" y="24688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Spider-Man: No Way Home is the most popular movie.</a:t>
            </a:r>
            <a:endParaRPr lang="en-US" sz="1700" dirty="0"/>
          </a:p>
        </p:txBody>
      </p:sp>
      <p:sp>
        <p:nvSpPr>
          <p:cNvPr id="12" name="Badge Q4"/>
          <p:cNvSpPr/>
          <p:nvPr/>
        </p:nvSpPr>
        <p:spPr>
          <a:xfrm>
            <a:off x="548640" y="3108960"/>
            <a:ext cx="731520" cy="457200"/>
          </a:xfrm>
          <a:prstGeom prst="roundRect">
            <a:avLst>
              <a:gd name="adj" fmla="val 20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Badge text Q4"/>
          <p:cNvSpPr txBox="1"/>
          <p:nvPr/>
        </p:nvSpPr>
        <p:spPr>
          <a:xfrm>
            <a:off x="548640" y="3108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Q4</a:t>
            </a:r>
            <a:endParaRPr lang="en-US" sz="1500" dirty="0"/>
          </a:p>
        </p:txBody>
      </p:sp>
      <p:sp>
        <p:nvSpPr>
          <p:cNvPr id="14" name="Takeaway Q4"/>
          <p:cNvSpPr txBox="1"/>
          <p:nvPr/>
        </p:nvSpPr>
        <p:spPr>
          <a:xfrm>
            <a:off x="1508760" y="31089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The United States vs. Billie Holiday and Threads tie for lowest popularity.</a:t>
            </a:r>
            <a:endParaRPr lang="en-US" sz="1700" dirty="0"/>
          </a:p>
        </p:txBody>
      </p:sp>
      <p:sp>
        <p:nvSpPr>
          <p:cNvPr id="15" name="Badge Q5"/>
          <p:cNvSpPr/>
          <p:nvPr/>
        </p:nvSpPr>
        <p:spPr>
          <a:xfrm>
            <a:off x="548640" y="3749040"/>
            <a:ext cx="731520" cy="457200"/>
          </a:xfrm>
          <a:prstGeom prst="roundRect">
            <a:avLst>
              <a:gd name="adj" fmla="val 20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Badge text Q5"/>
          <p:cNvSpPr txBox="1"/>
          <p:nvPr/>
        </p:nvSpPr>
        <p:spPr>
          <a:xfrm>
            <a:off x="548640" y="3749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Q5</a:t>
            </a:r>
            <a:endParaRPr lang="en-US" sz="1500" dirty="0"/>
          </a:p>
        </p:txBody>
      </p:sp>
      <p:sp>
        <p:nvSpPr>
          <p:cNvPr id="17" name="Takeaway Q5"/>
          <p:cNvSpPr txBox="1"/>
          <p:nvPr/>
        </p:nvSpPr>
        <p:spPr>
          <a:xfrm>
            <a:off x="1508760" y="37490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2021 is the year with the most movies (713).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nemaNight">
  <a:themeElements>
    <a:clrScheme name="CinemaNight">
      <a:dk1>
        <a:srgbClr val="1B1B2F"/>
      </a:dk1>
      <a:lt1>
        <a:srgbClr val="FFFFFF"/>
      </a:lt1>
      <a:dk2>
        <a:srgbClr val="2B2D42"/>
      </a:dk2>
      <a:lt2>
        <a:srgbClr val="F3F1F7"/>
      </a:lt2>
      <a:accent1>
        <a:srgbClr val="E63946"/>
      </a:accent1>
      <a:accent2>
        <a:srgbClr val="F4B942"/>
      </a:accent2>
      <a:accent3>
        <a:srgbClr val="5C6BC0"/>
      </a:accent3>
      <a:accent4>
        <a:srgbClr val="2A9D8F"/>
      </a:accent4>
      <a:accent5>
        <a:srgbClr val="8D99AE"/>
      </a:accent5>
      <a:accent6>
        <a:srgbClr val="A8DADC"/>
      </a:accent6>
      <a:hlink>
        <a:srgbClr val="E63946"/>
      </a:hlink>
      <a:folHlink>
        <a:srgbClr val="8D99AE"/>
      </a:folHlink>
    </a:clrScheme>
    <a:fontScheme name="CinemaN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Movies Data Analysis</dc:title>
  <dc:subject>PptxGenJS Presentation</dc:subject>
  <dc:creator>PptxGenJS</dc:creator>
  <cp:lastModifiedBy>PptxGenJS</cp:lastModifiedBy>
  <cp:revision>1</cp:revision>
  <dcterms:created xsi:type="dcterms:W3CDTF">2026-10-02T13:10:03Z</dcterms:created>
  <dcterms:modified xsi:type="dcterms:W3CDTF">2026-10-02T13:10:03Z</dcterms:modified>
</cp:coreProperties>
</file>